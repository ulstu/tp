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5" r:id="rId20"/>
    <p:sldId id="273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28"/>
  </p:normalViewPr>
  <p:slideViewPr>
    <p:cSldViewPr snapToGrid="0" snapToObjects="1">
      <p:cViewPr varScale="1">
        <p:scale>
          <a:sx n="116" d="100"/>
          <a:sy n="116" d="100"/>
        </p:scale>
        <p:origin x="2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52532-640B-434A-A432-CC3E779E8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19D83A-C1BD-AC46-BAAA-BC41635D1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3B86D8-E7A5-D441-860A-0DADDF4A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106392-38AB-0B42-8F59-EEE2E165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3417CE-8172-8140-8C91-62035A24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083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E381C-3122-F84F-ADEA-21202954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0A374B-3C6A-2A48-A270-E8020C1D1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2E7C8A-A1EE-C54D-ACE3-A6D964EB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98C65E-BCBC-8141-A748-EC64B6FD6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EEC1A0-DDCE-2F45-AAEC-505B58FC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55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1174D-354A-7245-9685-7D4F81B4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28E226-6A77-934E-B4B4-A76FFAF99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D9BBCA-0C50-1B41-8BF1-AA7A809D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661B0C-4AA4-034C-96BF-03685C2C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0F23B-CBA9-8B49-9452-3417C67D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558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DE0C1-ADBB-6E4A-9B78-2F6648BB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1420BD-81AE-D149-810B-08504044A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8C6AB8-D505-8D49-9246-93B278560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FC8ED6-0A76-1444-9F2C-41D1244B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C84B0E-9848-6B44-B41F-D554C74E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0874F0-6647-3E41-BD2F-05114DB8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257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7FB9A-587B-0A4A-940C-0205BA9C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58F1C6-EBAB-8148-89B8-BEFA4503B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8ABC34-312F-564D-99AC-1D2C970AF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81054E-C353-1245-BF82-D34B2D896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96CF96-571A-F042-A369-B141E3481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005888C-371B-174B-9464-FD8C1865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518473-D110-6D49-A6C8-913537386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5454EE-BCA5-0445-AB89-5440E96F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586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141FF-EC0F-954F-BA44-B6B99E74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81C55E-9290-6248-805B-3F579268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4CADD3-E917-344C-AEDE-0A46B89BA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B76CF0-ACF2-0945-8965-D59AD14BF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76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6B7E53-D01B-7B4F-A33D-0AC04169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0BB54E-E2FD-3E42-B53F-F37C8652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320A8D-F313-A742-A41B-AADACB02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5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81B9C-F951-9E4B-90EB-07802D1C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DB2651-223F-1B46-9304-A320D9A78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97812D-ED5B-434D-8B87-3610E412F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0AB372-F69F-1849-8689-DB226783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78DB70-5B92-4A4C-ADA2-DA643C9F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14FA06-79FF-5047-AEAA-369FE698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19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12127-E0AF-F140-934F-EB14531B5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3B99B1-6849-F149-BB52-700D7F1F5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7C3EE7-F9FF-E541-857A-BE248E3C5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29FBFF-582A-0745-8E54-59BB0CBF8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4B136E-6DC2-6F4C-A0A4-DD3F9404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D3BD36-0D3F-BD45-BDC5-7D9AF8A5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82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A244D-16DE-B542-8158-F73CBDFED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E5EB4E-B442-0E4B-B6B8-27C477C9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26A13D-A705-AF44-B4A5-98AA1143C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4EEEA6-E715-C747-9245-3CB2E8CE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2CEC43-61D7-1F4C-8C46-8B83B6DEF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43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1C92D1-9B7F-C943-BEA2-AEA11D1ED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F81BD3-9C42-3D4B-A1B1-DB5869FE6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38B968-3AE4-9646-9BEF-8AF20FDC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56833E-B3B3-A044-95A6-A46135054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BF0451-5FCD-4440-8437-D3E9DFCB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74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21E8A-3A71-FF4B-A142-1DF4A590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503EEF-3ED3-894E-B537-0ADCE5B48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242473-D4CC-B94E-AE4C-B430DDA98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80A7E-163C-5D49-B793-2AE87CAAF20D}" type="datetimeFigureOut">
              <a:rPr lang="ru-RU" smtClean="0"/>
              <a:t>15.04.2021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CF3956-823B-CC4F-BCC3-F4B27791D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F3C4AD-F29E-EC4A-9478-B8718608D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67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eecodecamp.org/news/a-beginner-friendly-introduction-to-containers-vms-and-docker-79a9e3e119b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ubuntu" TargetMode="External"/><Relationship Id="rId2" Type="http://schemas.openxmlformats.org/officeDocument/2006/relationships/hyperlink" Target="https://hub.docker.com/_/pyth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b.docker.com/_/alpin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install/" TargetMode="External"/><Relationship Id="rId2" Type="http://schemas.openxmlformats.org/officeDocument/2006/relationships/hyperlink" Target="https://www.docker.com/products/docker-engin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ocker.com/products/docker-enterprise" TargetMode="External"/><Relationship Id="rId4" Type="http://schemas.openxmlformats.org/officeDocument/2006/relationships/hyperlink" Target="https://opensource.stackexchange.com/questions/5436/is-docker-still-free-and-open-sourc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docker-overview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docker.com/engine/reference/commandline/cli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storage/volumes/" TargetMode="External"/><Relationship Id="rId2" Type="http://schemas.openxmlformats.org/officeDocument/2006/relationships/hyperlink" Target="https://docs.docker.com/engine/docker-overview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ecr/" TargetMode="External"/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oud.google.com/container-registry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python" TargetMode="External"/><Relationship Id="rId2" Type="http://schemas.openxmlformats.org/officeDocument/2006/relationships/hyperlink" Target="https://docs.docker.com/docker-hub/repos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eilly.com/learning/what-is-docker-networking" TargetMode="External"/><Relationship Id="rId2" Type="http://schemas.openxmlformats.org/officeDocument/2006/relationships/hyperlink" Target="https://docs.docker.com/engine/tutorials/networkingcontainers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compose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get-started/#recap-and-cheat-shee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get-started/part3/#introduction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D40EE-5E0C-414D-842A-685F0473E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A4F531-6AA4-214B-8B86-A44147A3B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280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1F31D-FE25-8143-97EF-E596E1E28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Концепции </a:t>
            </a:r>
            <a:r>
              <a:rPr lang="en-US" dirty="0"/>
              <a:t>Docker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EDE73D-57DA-8F41-BA0E-D389FF545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Предшественниками контейнеров </a:t>
            </a:r>
            <a:r>
              <a:rPr lang="en-US" dirty="0"/>
              <a:t>Docker </a:t>
            </a:r>
            <a:r>
              <a:rPr lang="ru-RU" dirty="0"/>
              <a:t>были виртуальные машины. Виртуальная машина, как и контейнер, изолирует от внешней среды приложение и его зависимости. Однако контейнеры </a:t>
            </a:r>
            <a:r>
              <a:rPr lang="en-US" dirty="0"/>
              <a:t>Docker </a:t>
            </a:r>
            <a:r>
              <a:rPr lang="ru-RU" dirty="0"/>
              <a:t>обладают преимуществами перед виртуальными машинами. Так, они потребляют меньше ресурсов, их очень легко переносить, они быстрее запускаются и приходят в работоспособное состояние. 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www.freecodecamp.org</a:t>
            </a:r>
            <a:r>
              <a:rPr lang="en-US" dirty="0">
                <a:hlinkClick r:id="rId2"/>
              </a:rPr>
              <a:t>/news/a-beginner-friendly-introduction-to-containers-vms-and-docker-79a9e3e119b/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5709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58CD6-F5D5-0D40-92AF-976D0AA7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72B504-4C32-334D-B07F-07F7183D8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Механизмы </a:t>
            </a:r>
            <a:r>
              <a:rPr lang="en-US" dirty="0"/>
              <a:t>Docker:</a:t>
            </a:r>
            <a:endParaRPr lang="ru-RU" dirty="0"/>
          </a:p>
          <a:p>
            <a:r>
              <a:rPr lang="ru-RU" dirty="0"/>
              <a:t>Платформа </a:t>
            </a:r>
            <a:r>
              <a:rPr lang="en-US" dirty="0"/>
              <a:t>Docker — </a:t>
            </a:r>
            <a:r>
              <a:rPr lang="ru-RU" dirty="0"/>
              <a:t>ПО, благодаря которому можно работать с контейнерами.</a:t>
            </a:r>
          </a:p>
          <a:p>
            <a:r>
              <a:rPr lang="ru-RU" dirty="0"/>
              <a:t>Движок </a:t>
            </a:r>
            <a:r>
              <a:rPr lang="en-US" dirty="0"/>
              <a:t>Docker — </a:t>
            </a:r>
            <a:r>
              <a:rPr lang="ru-RU" dirty="0"/>
              <a:t>клиент-серверное приложение (</a:t>
            </a:r>
            <a:r>
              <a:rPr lang="en-US" dirty="0"/>
              <a:t>CE </a:t>
            </a:r>
            <a:r>
              <a:rPr lang="ru-RU" dirty="0"/>
              <a:t>или </a:t>
            </a:r>
            <a:r>
              <a:rPr lang="en-US" dirty="0"/>
              <a:t>Enterprise).</a:t>
            </a:r>
          </a:p>
          <a:p>
            <a:r>
              <a:rPr lang="ru-RU" dirty="0"/>
              <a:t>Клиент </a:t>
            </a:r>
            <a:r>
              <a:rPr lang="en-US" dirty="0"/>
              <a:t>Docker — </a:t>
            </a:r>
            <a:r>
              <a:rPr lang="ru-RU" dirty="0"/>
              <a:t>программа, которая позволяет взаимодействовать с демоном </a:t>
            </a:r>
            <a:r>
              <a:rPr lang="en-US" dirty="0"/>
              <a:t>Docker </a:t>
            </a:r>
            <a:r>
              <a:rPr lang="ru-RU" dirty="0"/>
              <a:t>посредством </a:t>
            </a:r>
            <a:r>
              <a:rPr lang="en-US" dirty="0"/>
              <a:t>CLI.</a:t>
            </a:r>
          </a:p>
          <a:p>
            <a:r>
              <a:rPr lang="ru-RU" dirty="0"/>
              <a:t>Демон </a:t>
            </a:r>
            <a:r>
              <a:rPr lang="en-US" dirty="0"/>
              <a:t>Docker — </a:t>
            </a:r>
            <a:r>
              <a:rPr lang="ru-RU" dirty="0"/>
              <a:t>сервер </a:t>
            </a:r>
            <a:r>
              <a:rPr lang="en-US" dirty="0"/>
              <a:t>Docker, </a:t>
            </a:r>
            <a:r>
              <a:rPr lang="ru-RU" dirty="0"/>
              <a:t>отвечающий за управление ключевыми механизмами системы.</a:t>
            </a:r>
          </a:p>
          <a:p>
            <a:r>
              <a:rPr lang="ru-RU" dirty="0"/>
              <a:t>Тома </a:t>
            </a:r>
            <a:r>
              <a:rPr lang="en-US" dirty="0"/>
              <a:t>Docker — </a:t>
            </a:r>
            <a:r>
              <a:rPr lang="ru-RU" dirty="0"/>
              <a:t>хранилище информации, используемое в контейнерах.</a:t>
            </a:r>
          </a:p>
          <a:p>
            <a:r>
              <a:rPr lang="ru-RU" dirty="0"/>
              <a:t>Реестр </a:t>
            </a:r>
            <a:r>
              <a:rPr lang="en-US" dirty="0"/>
              <a:t>Docker — </a:t>
            </a:r>
            <a:r>
              <a:rPr lang="ru-RU" dirty="0"/>
              <a:t>удалённое хранилище образов.</a:t>
            </a:r>
          </a:p>
          <a:p>
            <a:r>
              <a:rPr lang="ru-RU" dirty="0" err="1"/>
              <a:t>Хаб</a:t>
            </a:r>
            <a:r>
              <a:rPr lang="ru-RU" dirty="0"/>
              <a:t> </a:t>
            </a:r>
            <a:r>
              <a:rPr lang="en-US" dirty="0"/>
              <a:t>Docker — </a:t>
            </a:r>
            <a:r>
              <a:rPr lang="ru-RU" dirty="0"/>
              <a:t>самый крупный реестр </a:t>
            </a:r>
            <a:r>
              <a:rPr lang="en-US" dirty="0"/>
              <a:t>Docker, </a:t>
            </a:r>
            <a:r>
              <a:rPr lang="ru-RU" dirty="0"/>
              <a:t>используемый по умолчанию.</a:t>
            </a:r>
          </a:p>
          <a:p>
            <a:r>
              <a:rPr lang="ru-RU" dirty="0" err="1"/>
              <a:t>Репозиторий</a:t>
            </a:r>
            <a:r>
              <a:rPr lang="ru-RU" dirty="0"/>
              <a:t> — коллекция образов </a:t>
            </a:r>
            <a:r>
              <a:rPr lang="en-US" dirty="0"/>
              <a:t>Docker </a:t>
            </a:r>
            <a:r>
              <a:rPr lang="ru-RU" dirty="0"/>
              <a:t>с одним и тем же именем.</a:t>
            </a:r>
          </a:p>
          <a:p>
            <a:pPr marL="0" indent="0">
              <a:buNone/>
            </a:pPr>
            <a:r>
              <a:rPr lang="ru-RU" dirty="0"/>
              <a:t>Масштабирование:</a:t>
            </a:r>
          </a:p>
          <a:p>
            <a:r>
              <a:rPr lang="ru-RU" dirty="0"/>
              <a:t>Сетевая подсистема </a:t>
            </a:r>
            <a:r>
              <a:rPr lang="en-US" dirty="0"/>
              <a:t>Docker — </a:t>
            </a:r>
            <a:r>
              <a:rPr lang="ru-RU" dirty="0"/>
              <a:t>среда, которая позволяет организовывать взаимодействие контейнеров.</a:t>
            </a:r>
          </a:p>
          <a:p>
            <a:r>
              <a:rPr lang="en-US" dirty="0"/>
              <a:t>Docker Compose — </a:t>
            </a:r>
            <a:r>
              <a:rPr lang="ru-RU" dirty="0"/>
              <a:t>технология, упрощающая работу с </a:t>
            </a:r>
            <a:r>
              <a:rPr lang="ru-RU" dirty="0" err="1"/>
              <a:t>многоконтейнерными</a:t>
            </a:r>
            <a:r>
              <a:rPr lang="ru-RU" dirty="0"/>
              <a:t> приложениями.</a:t>
            </a:r>
          </a:p>
          <a:p>
            <a:r>
              <a:rPr lang="en-US" dirty="0"/>
              <a:t>Docker Swarm — </a:t>
            </a:r>
            <a:r>
              <a:rPr lang="ru-RU" dirty="0"/>
              <a:t>средство для управления развёртыванием контейнеров.</a:t>
            </a:r>
          </a:p>
          <a:p>
            <a:r>
              <a:rPr lang="ru-RU" dirty="0"/>
              <a:t>Сервисы </a:t>
            </a:r>
            <a:r>
              <a:rPr lang="en-US" dirty="0"/>
              <a:t>Docker — </a:t>
            </a:r>
            <a:r>
              <a:rPr lang="ru-RU" dirty="0"/>
              <a:t>контейнеры в </a:t>
            </a:r>
            <a:r>
              <a:rPr lang="ru-RU" dirty="0" err="1"/>
              <a:t>продакшне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50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DEF2B-49BE-5A4C-BCCA-3E3CE5AD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Образы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75357F-3F6B-BA43-89D2-54151CF4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Образы — это неизменные шаблоны, которые используются для создания одинаковых контейнеров.</a:t>
            </a:r>
          </a:p>
          <a:p>
            <a:r>
              <a:rPr lang="ru-RU" dirty="0"/>
              <a:t>В образе контейнера </a:t>
            </a:r>
            <a:r>
              <a:rPr lang="en-US" dirty="0"/>
              <a:t>Docker </a:t>
            </a:r>
            <a:r>
              <a:rPr lang="ru-RU" dirty="0"/>
              <a:t>содержится образ базовой операционной системы, код приложения, библиотеки, от которого оно зависит. Всё это скомпоновано в виде единой сущности, на основе которой можно создать контейнер.</a:t>
            </a:r>
          </a:p>
        </p:txBody>
      </p:sp>
    </p:spTree>
    <p:extLst>
      <p:ext uri="{BB962C8B-B14F-4D97-AF65-F5344CB8AC3E}">
        <p14:creationId xmlns:p14="http://schemas.microsoft.com/office/powerpoint/2010/main" val="1224292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5B0E1-297D-A843-B541-FE67B93A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 </a:t>
            </a:r>
            <a:r>
              <a:rPr lang="en-US" dirty="0" err="1"/>
              <a:t>Dockerfile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C0593C-199C-394A-8791-125E3F835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содержит набор инструкций, следуя которым </a:t>
            </a:r>
            <a:r>
              <a:rPr lang="en-US" dirty="0"/>
              <a:t>Docker </a:t>
            </a:r>
            <a:r>
              <a:rPr lang="ru-RU" dirty="0"/>
              <a:t>будет собирать образ контейнера. Этот файл содержит описание базового образа, который будет представлять собой исходный слой образа. Среди популярных официальных базовых образов можно отметить </a:t>
            </a:r>
            <a:r>
              <a:rPr lang="en-US" dirty="0">
                <a:hlinkClick r:id="rId2"/>
              </a:rPr>
              <a:t>python</a:t>
            </a:r>
            <a:r>
              <a:rPr lang="en-US" dirty="0"/>
              <a:t>, </a:t>
            </a:r>
            <a:r>
              <a:rPr lang="en-US" dirty="0">
                <a:hlinkClick r:id="rId3"/>
              </a:rPr>
              <a:t>ubuntu</a:t>
            </a:r>
            <a:r>
              <a:rPr lang="en-US" dirty="0"/>
              <a:t>, </a:t>
            </a:r>
            <a:r>
              <a:rPr lang="en-US" dirty="0">
                <a:hlinkClick r:id="rId4"/>
              </a:rPr>
              <a:t>alpine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ru-RU" dirty="0"/>
              <a:t>В образ контейнера, поверх базового образа, можно добавлять дополнительные слои. Делается это в соответствии с инструкциями из </a:t>
            </a:r>
            <a:r>
              <a:rPr lang="en-US" dirty="0" err="1"/>
              <a:t>Dockerfile</a:t>
            </a:r>
            <a:r>
              <a:rPr lang="en-US" dirty="0"/>
              <a:t>. </a:t>
            </a:r>
            <a:r>
              <a:rPr lang="ru-RU" dirty="0"/>
              <a:t>Например, если </a:t>
            </a:r>
            <a:r>
              <a:rPr lang="en-US" dirty="0" err="1"/>
              <a:t>Dockerfile</a:t>
            </a:r>
            <a:r>
              <a:rPr lang="en-US" dirty="0"/>
              <a:t> </a:t>
            </a:r>
            <a:r>
              <a:rPr lang="ru-RU" dirty="0"/>
              <a:t>описывает образ, который планируется использовать для решения задач машинного обучения, то в нём могут быть инструкции для включения в промежуточный слой такого образа библиотек </a:t>
            </a:r>
            <a:r>
              <a:rPr lang="en-US" dirty="0"/>
              <a:t>NumPy, Pandas </a:t>
            </a:r>
            <a:r>
              <a:rPr lang="ru-RU" dirty="0"/>
              <a:t>и </a:t>
            </a:r>
            <a:r>
              <a:rPr lang="en-US" dirty="0"/>
              <a:t>Scikit-learn.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В образе может содержаться, поверх всех остальных, ещё один тонкий слой, данные, хранящиеся в котором, поддаются изменению. Это — небольшой по объёму слой, содержащий программу, которую планируется запускать в контейнере.</a:t>
            </a:r>
          </a:p>
        </p:txBody>
      </p:sp>
    </p:spTree>
    <p:extLst>
      <p:ext uri="{BB962C8B-B14F-4D97-AF65-F5344CB8AC3E}">
        <p14:creationId xmlns:p14="http://schemas.microsoft.com/office/powerpoint/2010/main" val="3917830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1A9AE-42A6-B447-A821-CBFD6E9C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E74A61-FF07-4D4C-A71F-AB231886C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того чтобы запустить контейнер, нам нужен, во-первых, образ контейнера, во-вторых — среда, в которой установлен </a:t>
            </a:r>
            <a:r>
              <a:rPr lang="en-US" dirty="0"/>
              <a:t>Docker, </a:t>
            </a:r>
            <a:r>
              <a:rPr lang="ru-RU" dirty="0"/>
              <a:t>способная понять команду вида </a:t>
            </a:r>
            <a:r>
              <a:rPr lang="en-US" dirty="0"/>
              <a:t>docker run </a:t>
            </a:r>
            <a:r>
              <a:rPr lang="en-US" dirty="0" err="1"/>
              <a:t>image_name</a:t>
            </a:r>
            <a:r>
              <a:rPr lang="en-US" dirty="0"/>
              <a:t>. </a:t>
            </a:r>
            <a:r>
              <a:rPr lang="ru-RU" dirty="0"/>
              <a:t>Эта команда создаёт контейнер из образа и запускает его.</a:t>
            </a:r>
          </a:p>
        </p:txBody>
      </p:sp>
    </p:spTree>
    <p:extLst>
      <p:ext uri="{BB962C8B-B14F-4D97-AF65-F5344CB8AC3E}">
        <p14:creationId xmlns:p14="http://schemas.microsoft.com/office/powerpoint/2010/main" val="794857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D9C6E-6B82-924F-A83B-67D5D452D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Репозиторий</a:t>
            </a:r>
            <a:r>
              <a:rPr lang="ru-RU" dirty="0"/>
              <a:t> контейнеров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0CFD04-0FFF-E74C-A27B-CA7CECBC3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вы хотите дать возможность другим людям создавать контейнеры на основе вашего образа, вы можете отправить этот образ в облачное хранилище. Самым крупным подобным хранилищем является </a:t>
            </a:r>
            <a:r>
              <a:rPr lang="ru-RU" dirty="0" err="1"/>
              <a:t>репозиторий</a:t>
            </a:r>
            <a:r>
              <a:rPr lang="ru-RU" dirty="0"/>
              <a:t> </a:t>
            </a:r>
            <a:r>
              <a:rPr lang="en-US" dirty="0">
                <a:hlinkClick r:id="rId2"/>
              </a:rPr>
              <a:t>Docker Hub</a:t>
            </a:r>
            <a:r>
              <a:rPr lang="en-US" dirty="0"/>
              <a:t>. </a:t>
            </a:r>
            <a:r>
              <a:rPr lang="ru-RU" dirty="0"/>
              <a:t>Он используется при работе с </a:t>
            </a:r>
            <a:r>
              <a:rPr lang="en-US" dirty="0"/>
              <a:t>Docker </a:t>
            </a:r>
            <a:r>
              <a:rPr lang="ru-RU" dirty="0"/>
              <a:t>по умолчанию.</a:t>
            </a:r>
          </a:p>
        </p:txBody>
      </p:sp>
    </p:spTree>
    <p:extLst>
      <p:ext uri="{BB962C8B-B14F-4D97-AF65-F5344CB8AC3E}">
        <p14:creationId xmlns:p14="http://schemas.microsoft.com/office/powerpoint/2010/main" val="2191531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FC9B8-4F44-8B41-AA0A-4B990BD6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Механизмы </a:t>
            </a:r>
            <a:r>
              <a:rPr lang="en-US" dirty="0"/>
              <a:t>docker	</a:t>
            </a:r>
            <a:br>
              <a:rPr lang="en-US" dirty="0"/>
            </a:br>
            <a:r>
              <a:rPr lang="ru-RU" dirty="0"/>
              <a:t>Платформа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934B6C-1ED2-2846-833E-073954A98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программа, которая даёт возможность упаковывать приложения в контейнеры и запускать их на серверах. Платформа </a:t>
            </a:r>
            <a:r>
              <a:rPr lang="en-US" dirty="0"/>
              <a:t>Docker </a:t>
            </a:r>
            <a:r>
              <a:rPr lang="ru-RU" dirty="0"/>
              <a:t>позволяет помещать в контейнеры код и его зависимости. Как результат, системы, основанные на контейнерах, легко масштабировать, так как контейнеры можно переносить и воспроизводить.</a:t>
            </a:r>
          </a:p>
        </p:txBody>
      </p:sp>
    </p:spTree>
    <p:extLst>
      <p:ext uri="{BB962C8B-B14F-4D97-AF65-F5344CB8AC3E}">
        <p14:creationId xmlns:p14="http://schemas.microsoft.com/office/powerpoint/2010/main" val="3943067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4C3CE-DAB9-8246-B4D7-7CEA562F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Движок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028815-E8F4-4446-9E77-63CE0CE73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Движок </a:t>
            </a:r>
            <a:r>
              <a:rPr lang="en-US" dirty="0"/>
              <a:t>Docker (</a:t>
            </a:r>
            <a:r>
              <a:rPr lang="en-US" dirty="0">
                <a:hlinkClick r:id="rId2"/>
              </a:rPr>
              <a:t>Docker Engine</a:t>
            </a:r>
            <a:r>
              <a:rPr lang="en-US" dirty="0"/>
              <a:t>) — </a:t>
            </a:r>
            <a:r>
              <a:rPr lang="ru-RU" dirty="0"/>
              <a:t>это клиент-серверное приложение. Компания </a:t>
            </a:r>
            <a:r>
              <a:rPr lang="en-US" dirty="0"/>
              <a:t>Docker </a:t>
            </a:r>
            <a:r>
              <a:rPr lang="ru-RU" dirty="0"/>
              <a:t>разделила движок </a:t>
            </a:r>
            <a:r>
              <a:rPr lang="en-US" dirty="0"/>
              <a:t>Docker </a:t>
            </a:r>
            <a:r>
              <a:rPr lang="ru-RU" dirty="0"/>
              <a:t>на два продукта. </a:t>
            </a:r>
            <a:r>
              <a:rPr lang="en-US" dirty="0">
                <a:hlinkClick r:id="rId3"/>
              </a:rPr>
              <a:t>Docker Community Edition</a:t>
            </a:r>
            <a:r>
              <a:rPr lang="en-US" dirty="0"/>
              <a:t> (CE) — </a:t>
            </a:r>
            <a:r>
              <a:rPr lang="ru-RU" dirty="0"/>
              <a:t>это бесплатное ПО, во многом основанное на </a:t>
            </a:r>
            <a:r>
              <a:rPr lang="ru-RU" dirty="0">
                <a:hlinkClick r:id="rId4"/>
              </a:rPr>
              <a:t>опенсорсных инструментах</a:t>
            </a:r>
            <a:r>
              <a:rPr lang="ru-RU" dirty="0"/>
              <a:t>.</a:t>
            </a:r>
            <a:br>
              <a:rPr lang="ru-RU" dirty="0"/>
            </a:br>
            <a:br>
              <a:rPr lang="ru-RU" dirty="0"/>
            </a:br>
            <a:r>
              <a:rPr lang="en-US" dirty="0">
                <a:hlinkClick r:id="rId5"/>
              </a:rPr>
              <a:t>Docker Enterprise</a:t>
            </a:r>
            <a:r>
              <a:rPr lang="en-US" dirty="0"/>
              <a:t> — </a:t>
            </a:r>
            <a:r>
              <a:rPr lang="ru-RU" dirty="0"/>
              <a:t>это платная версия системы, дающая пользователям дополнительные возможности в области поддержки систем, управления ими и безопасности. Платная версия </a:t>
            </a:r>
            <a:r>
              <a:rPr lang="en-US" dirty="0"/>
              <a:t>Docker </a:t>
            </a:r>
            <a:r>
              <a:rPr lang="ru-RU" dirty="0"/>
              <a:t>даёт компании средства, необходимые для её существования.</a:t>
            </a:r>
          </a:p>
        </p:txBody>
      </p:sp>
    </p:spTree>
    <p:extLst>
      <p:ext uri="{BB962C8B-B14F-4D97-AF65-F5344CB8AC3E}">
        <p14:creationId xmlns:p14="http://schemas.microsoft.com/office/powerpoint/2010/main" val="71643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DF13269-E35E-F746-9CF8-7581A3E13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0"/>
            <a:ext cx="101600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AE77A3-851F-5546-84BA-2BDABBC4C92C}"/>
              </a:ext>
            </a:extLst>
          </p:cNvPr>
          <p:cNvSpPr/>
          <p:nvPr/>
        </p:nvSpPr>
        <p:spPr>
          <a:xfrm>
            <a:off x="569205" y="5420943"/>
            <a:ext cx="112188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Клиент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Docker (</a:t>
            </a:r>
            <a:r>
              <a:rPr lang="en-US" b="0" i="0" u="none" strike="noStrike" dirty="0">
                <a:solidFill>
                  <a:srgbClr val="548EAA"/>
                </a:solidFill>
                <a:effectLst/>
                <a:latin typeface="-apple-system"/>
                <a:hlinkClick r:id="rId3"/>
              </a:rPr>
              <a:t>Docker Client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) — 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это основное средство, которое используют для взаимодействия с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Docker. 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Так, при работе с интерфейсом командной строки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Docker (</a:t>
            </a:r>
            <a:r>
              <a:rPr lang="en-US" b="0" i="0" u="none" strike="noStrike" dirty="0">
                <a:solidFill>
                  <a:srgbClr val="548EAA"/>
                </a:solidFill>
                <a:effectLst/>
                <a:latin typeface="-apple-system"/>
                <a:hlinkClick r:id="rId4"/>
              </a:rPr>
              <a:t>Docker Command Line Interface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, CLI), 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в терминал вводят команды, начинающиеся с ключевого слова </a:t>
            </a:r>
            <a:r>
              <a:rPr lang="en-US" dirty="0"/>
              <a:t>docker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, 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обращаясь к клиенту. Затем клиент использует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API Docker 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для отправки команд демону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Docker.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1620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6B738-9460-DE42-848E-B26D2DC4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B4C43D-CB4E-D448-AC0C-096333BA7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Демон </a:t>
            </a:r>
            <a:r>
              <a:rPr lang="en-US" dirty="0"/>
              <a:t>Docker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Docker Daemon</a:t>
            </a:r>
            <a:r>
              <a:rPr lang="en-US" dirty="0"/>
              <a:t> — </a:t>
            </a:r>
            <a:r>
              <a:rPr lang="ru-RU" dirty="0"/>
              <a:t>это сервер </a:t>
            </a:r>
            <a:r>
              <a:rPr lang="en-US" dirty="0"/>
              <a:t>Docker, </a:t>
            </a:r>
            <a:r>
              <a:rPr lang="ru-RU" dirty="0"/>
              <a:t>который ожидает запросы к </a:t>
            </a:r>
            <a:r>
              <a:rPr lang="en-US" dirty="0"/>
              <a:t>API Docker. </a:t>
            </a:r>
            <a:r>
              <a:rPr lang="ru-RU" dirty="0"/>
              <a:t>Демон </a:t>
            </a:r>
            <a:r>
              <a:rPr lang="en-US" dirty="0"/>
              <a:t>Docker </a:t>
            </a:r>
            <a:r>
              <a:rPr lang="ru-RU" dirty="0"/>
              <a:t>управляет образами, контейнерами, сетями и томами.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Тома </a:t>
            </a:r>
            <a:r>
              <a:rPr lang="en-US" dirty="0"/>
              <a:t>Docker (</a:t>
            </a:r>
            <a:r>
              <a:rPr lang="en-US" dirty="0">
                <a:hlinkClick r:id="rId3"/>
              </a:rPr>
              <a:t>Docker Volumes</a:t>
            </a:r>
            <a:r>
              <a:rPr lang="en-US" dirty="0"/>
              <a:t>) </a:t>
            </a:r>
            <a:r>
              <a:rPr lang="ru-RU" dirty="0"/>
              <a:t>представляют собой наиболее предпочтительный механизм постоянного хранения данных, потребляемых или производимых приложениями.</a:t>
            </a:r>
          </a:p>
        </p:txBody>
      </p:sp>
    </p:spTree>
    <p:extLst>
      <p:ext uri="{BB962C8B-B14F-4D97-AF65-F5344CB8AC3E}">
        <p14:creationId xmlns:p14="http://schemas.microsoft.com/office/powerpoint/2010/main" val="3996151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FA6C69-7E0B-EB41-8B74-5A5E5EFA2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Реестр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DD1DBD-3859-494A-ADD3-1B7D1A669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Реестр </a:t>
            </a:r>
            <a:r>
              <a:rPr lang="en-US" dirty="0"/>
              <a:t>Docker (</a:t>
            </a:r>
            <a:r>
              <a:rPr lang="en-US" dirty="0">
                <a:hlinkClick r:id="rId2"/>
              </a:rPr>
              <a:t>Docker Registry</a:t>
            </a:r>
            <a:r>
              <a:rPr lang="en-US" dirty="0"/>
              <a:t>) </a:t>
            </a:r>
            <a:r>
              <a:rPr lang="ru-RU" dirty="0"/>
              <a:t>представляет собой удалённую платформу, используемую для хранения образов </a:t>
            </a:r>
            <a:r>
              <a:rPr lang="en-US" dirty="0"/>
              <a:t>Docker. </a:t>
            </a:r>
            <a:r>
              <a:rPr lang="ru-RU" dirty="0"/>
              <a:t>В ходе работы с </a:t>
            </a:r>
            <a:r>
              <a:rPr lang="en-US" dirty="0"/>
              <a:t>Docker </a:t>
            </a:r>
            <a:r>
              <a:rPr lang="ru-RU" dirty="0"/>
              <a:t>образы отправляют в реестр и загружают из него. Подобный реестр может быть организован тем, кто пользуется </a:t>
            </a:r>
            <a:r>
              <a:rPr lang="en-US" dirty="0"/>
              <a:t>Docker. </a:t>
            </a:r>
            <a:r>
              <a:rPr lang="ru-RU" dirty="0"/>
              <a:t>Кроме того, поставщики облачных услуг могут поддерживать и собственные реестры. Например, это касается </a:t>
            </a:r>
            <a:r>
              <a:rPr lang="en-US" dirty="0">
                <a:hlinkClick r:id="rId3"/>
              </a:rPr>
              <a:t>AWS</a:t>
            </a:r>
            <a:r>
              <a:rPr lang="en-US" dirty="0"/>
              <a:t> </a:t>
            </a:r>
            <a:r>
              <a:rPr lang="ru-RU" dirty="0"/>
              <a:t>и </a:t>
            </a:r>
            <a:r>
              <a:rPr lang="en-US" dirty="0">
                <a:hlinkClick r:id="rId4"/>
              </a:rPr>
              <a:t>Google Cloud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 err="1"/>
              <a:t>Хаб</a:t>
            </a:r>
            <a:r>
              <a:rPr lang="ru-RU" dirty="0"/>
              <a:t> </a:t>
            </a:r>
            <a:r>
              <a:rPr lang="en-US" dirty="0"/>
              <a:t>Docker</a:t>
            </a:r>
          </a:p>
          <a:p>
            <a:pPr marL="0" indent="0">
              <a:buNone/>
            </a:pPr>
            <a:r>
              <a:rPr lang="en-US" dirty="0"/>
              <a:t> (</a:t>
            </a:r>
            <a:r>
              <a:rPr lang="en-US" dirty="0">
                <a:hlinkClick r:id="rId2"/>
              </a:rPr>
              <a:t>Docker Hub</a:t>
            </a:r>
            <a:r>
              <a:rPr lang="en-US" dirty="0"/>
              <a:t>) — </a:t>
            </a:r>
            <a:r>
              <a:rPr lang="ru-RU" dirty="0"/>
              <a:t>это самый крупный реестр образов </a:t>
            </a:r>
            <a:r>
              <a:rPr lang="en-US" dirty="0"/>
              <a:t>Docker. </a:t>
            </a:r>
            <a:r>
              <a:rPr lang="ru-RU" dirty="0"/>
              <a:t>Кроме того, именно этот реестр используется при работе с </a:t>
            </a:r>
            <a:r>
              <a:rPr lang="en-US" dirty="0"/>
              <a:t>Docker </a:t>
            </a:r>
            <a:r>
              <a:rPr lang="ru-RU" dirty="0"/>
              <a:t>по умолчанию. Пользоваться </a:t>
            </a:r>
            <a:r>
              <a:rPr lang="ru-RU" dirty="0" err="1"/>
              <a:t>хабом</a:t>
            </a:r>
            <a:r>
              <a:rPr lang="ru-RU" dirty="0"/>
              <a:t> </a:t>
            </a:r>
            <a:r>
              <a:rPr lang="en-US" dirty="0"/>
              <a:t>Docker </a:t>
            </a:r>
            <a:r>
              <a:rPr lang="ru-RU" dirty="0"/>
              <a:t>можно бесплатно.</a:t>
            </a:r>
          </a:p>
        </p:txBody>
      </p:sp>
    </p:spTree>
    <p:extLst>
      <p:ext uri="{BB962C8B-B14F-4D97-AF65-F5344CB8AC3E}">
        <p14:creationId xmlns:p14="http://schemas.microsoft.com/office/powerpoint/2010/main" val="2057497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E0C4C-B11A-3A48-BF35-CB1341BE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Репозиторий</a:t>
            </a:r>
            <a:r>
              <a:rPr lang="ru-RU" dirty="0"/>
              <a:t>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7C330D-D33D-6649-9865-C3AFD5073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Репозиторием</a:t>
            </a:r>
            <a:r>
              <a:rPr lang="ru-RU" dirty="0"/>
              <a:t> </a:t>
            </a:r>
            <a:r>
              <a:rPr lang="en-US" dirty="0"/>
              <a:t>Docker (</a:t>
            </a:r>
            <a:r>
              <a:rPr lang="en-US" dirty="0">
                <a:hlinkClick r:id="rId2"/>
              </a:rPr>
              <a:t>Docker Repository</a:t>
            </a:r>
            <a:r>
              <a:rPr lang="en-US" dirty="0"/>
              <a:t>) </a:t>
            </a:r>
            <a:r>
              <a:rPr lang="ru-RU" dirty="0"/>
              <a:t>называют набор образов </a:t>
            </a:r>
            <a:r>
              <a:rPr lang="en-US" dirty="0"/>
              <a:t>Docker, </a:t>
            </a:r>
            <a:r>
              <a:rPr lang="ru-RU" dirty="0"/>
              <a:t>обладающих одинаковыми именами и разными тегами. Теги — это идентификаторы образов.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Обычно в </a:t>
            </a:r>
            <a:r>
              <a:rPr lang="ru-RU" dirty="0" err="1"/>
              <a:t>репозиториях</a:t>
            </a:r>
            <a:r>
              <a:rPr lang="ru-RU" dirty="0"/>
              <a:t> хранятся разные версии одних и тех же образов. Например, </a:t>
            </a:r>
            <a:r>
              <a:rPr lang="en-US" dirty="0">
                <a:hlinkClick r:id="rId3"/>
              </a:rPr>
              <a:t>Python</a:t>
            </a:r>
            <a:r>
              <a:rPr lang="en-US" dirty="0"/>
              <a:t> — </a:t>
            </a:r>
            <a:r>
              <a:rPr lang="ru-RU" dirty="0"/>
              <a:t>это имя популярнейшего официального </a:t>
            </a:r>
            <a:r>
              <a:rPr lang="ru-RU" dirty="0" err="1"/>
              <a:t>репозитория</a:t>
            </a:r>
            <a:r>
              <a:rPr lang="ru-RU" dirty="0"/>
              <a:t> </a:t>
            </a:r>
            <a:r>
              <a:rPr lang="en-US" dirty="0"/>
              <a:t>Docker </a:t>
            </a:r>
            <a:r>
              <a:rPr lang="ru-RU" dirty="0"/>
              <a:t>на </a:t>
            </a:r>
            <a:r>
              <a:rPr lang="ru-RU" dirty="0" err="1"/>
              <a:t>хабе</a:t>
            </a:r>
            <a:r>
              <a:rPr lang="ru-RU" dirty="0"/>
              <a:t> </a:t>
            </a:r>
            <a:r>
              <a:rPr lang="en-US" dirty="0"/>
              <a:t>Docker. </a:t>
            </a:r>
            <a:r>
              <a:rPr lang="ru-RU" dirty="0"/>
              <a:t>А вот </a:t>
            </a:r>
            <a:r>
              <a:rPr lang="en-US" dirty="0"/>
              <a:t>Python:3.7-slim — </a:t>
            </a:r>
            <a:r>
              <a:rPr lang="ru-RU" dirty="0"/>
              <a:t>это версия образа с тегом 3.7-</a:t>
            </a:r>
            <a:r>
              <a:rPr lang="en-US" dirty="0"/>
              <a:t>slim </a:t>
            </a:r>
            <a:r>
              <a:rPr lang="ru-RU" dirty="0"/>
              <a:t>в </a:t>
            </a:r>
            <a:r>
              <a:rPr lang="ru-RU" dirty="0" err="1"/>
              <a:t>репозитории</a:t>
            </a:r>
            <a:r>
              <a:rPr lang="ru-RU" dirty="0"/>
              <a:t> </a:t>
            </a:r>
            <a:r>
              <a:rPr lang="en-US" dirty="0"/>
              <a:t>Python. </a:t>
            </a:r>
            <a:r>
              <a:rPr lang="ru-RU" dirty="0"/>
              <a:t>В реестр можно отправить как целый </a:t>
            </a:r>
            <a:r>
              <a:rPr lang="ru-RU" dirty="0" err="1"/>
              <a:t>репозиторий</a:t>
            </a:r>
            <a:r>
              <a:rPr lang="ru-RU" dirty="0"/>
              <a:t>, так и отдельный образ.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5956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FD5CF-8A59-F849-ABA9-3D8381E97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C99B89-3974-0A40-B61F-9F4F2C90A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Сетевые механизмы </a:t>
            </a:r>
            <a:r>
              <a:rPr lang="en-US" dirty="0"/>
              <a:t>Docker (</a:t>
            </a:r>
            <a:r>
              <a:rPr lang="en-US" dirty="0">
                <a:hlinkClick r:id="rId2"/>
              </a:rPr>
              <a:t>Docker Networking</a:t>
            </a:r>
            <a:r>
              <a:rPr lang="en-US" dirty="0"/>
              <a:t>) </a:t>
            </a:r>
            <a:r>
              <a:rPr lang="ru-RU" dirty="0"/>
              <a:t>позволяют организовывать связь между контейнерами </a:t>
            </a:r>
            <a:r>
              <a:rPr lang="en-US" dirty="0"/>
              <a:t>Docker. </a:t>
            </a:r>
            <a:r>
              <a:rPr lang="ru-RU" dirty="0"/>
              <a:t>Соединённые с помощью сети контейнеры могут выполняться на одном и том же хосте или на разных хостах. Подробности о сетевой подсистеме </a:t>
            </a:r>
            <a:r>
              <a:rPr lang="en-US" dirty="0"/>
              <a:t>Docker </a:t>
            </a:r>
            <a:r>
              <a:rPr lang="ru-RU" dirty="0"/>
              <a:t>можно почитать </a:t>
            </a:r>
            <a:r>
              <a:rPr lang="ru-RU" dirty="0">
                <a:hlinkClick r:id="rId3"/>
              </a:rPr>
              <a:t>здесь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4381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80B67-2FCD-9D49-B2D2-02F704A35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B092EF-20F2-0343-BC44-DE3A88767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hlinkClick r:id="rId2"/>
              </a:rPr>
              <a:t>Docker Compose</a:t>
            </a:r>
            <a:r>
              <a:rPr lang="en-US" dirty="0"/>
              <a:t> — </a:t>
            </a:r>
            <a:r>
              <a:rPr lang="ru-RU" dirty="0"/>
              <a:t>это инструмент, который упрощает развёртывание приложений, для работы которых требуется несколько контейнеров </a:t>
            </a:r>
            <a:r>
              <a:rPr lang="en-US" dirty="0"/>
              <a:t>Docker. Docker Compose </a:t>
            </a:r>
            <a:r>
              <a:rPr lang="ru-RU" dirty="0"/>
              <a:t>позволяет выполнять команды, описываемые в файле </a:t>
            </a:r>
            <a:r>
              <a:rPr lang="en-US" dirty="0"/>
              <a:t>docker-</a:t>
            </a:r>
            <a:r>
              <a:rPr lang="en-US" dirty="0" err="1"/>
              <a:t>compose.yml</a:t>
            </a:r>
            <a:r>
              <a:rPr lang="en-US" dirty="0"/>
              <a:t>. </a:t>
            </a:r>
            <a:r>
              <a:rPr lang="ru-RU" dirty="0"/>
              <a:t>Эти команды можно выполнять столько раз, сколько потребуется. Интерфейс командной строки </a:t>
            </a:r>
            <a:r>
              <a:rPr lang="en-US" dirty="0"/>
              <a:t>Docker Compose </a:t>
            </a:r>
            <a:r>
              <a:rPr lang="ru-RU" dirty="0"/>
              <a:t>упрощает взаимодействие с </a:t>
            </a:r>
            <a:r>
              <a:rPr lang="ru-RU" dirty="0" err="1"/>
              <a:t>многоконтейнерными</a:t>
            </a:r>
            <a:r>
              <a:rPr lang="ru-RU" dirty="0"/>
              <a:t> приложениями. Этот инструмент устанавливается при установке </a:t>
            </a:r>
            <a:r>
              <a:rPr lang="en-US" dirty="0"/>
              <a:t>Docker.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69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815CA-2E86-DC47-92B9-4E87C234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Swarm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BF69FB-886B-8747-940F-355017014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решение, предназначенное для управления контейнерными развёртываниями (то есть, как говорят, для </a:t>
            </a:r>
            <a:r>
              <a:rPr lang="ru-RU" dirty="0" err="1"/>
              <a:t>оркестрации</a:t>
            </a:r>
            <a:r>
              <a:rPr lang="ru-RU" dirty="0"/>
              <a:t> контейнеров). В </a:t>
            </a:r>
            <a:r>
              <a:rPr lang="ru-RU" dirty="0">
                <a:hlinkClick r:id="rId2"/>
              </a:rPr>
              <a:t>этом</a:t>
            </a:r>
            <a:r>
              <a:rPr lang="ru-RU" dirty="0"/>
              <a:t> материале из официального учебного курса по </a:t>
            </a:r>
            <a:r>
              <a:rPr lang="en-US" dirty="0"/>
              <a:t>Docker </a:t>
            </a:r>
            <a:r>
              <a:rPr lang="ru-RU" dirty="0"/>
              <a:t>можно найти сведения о </a:t>
            </a:r>
            <a:r>
              <a:rPr lang="en-US" dirty="0"/>
              <a:t>Docker Swarm. </a:t>
            </a:r>
          </a:p>
          <a:p>
            <a:endParaRPr lang="en-US" dirty="0"/>
          </a:p>
          <a:p>
            <a:r>
              <a:rPr lang="ru-RU" dirty="0"/>
              <a:t>Сравнение с </a:t>
            </a:r>
            <a:r>
              <a:rPr lang="en-US" dirty="0" err="1"/>
              <a:t>kubernates</a:t>
            </a:r>
            <a:r>
              <a:rPr lang="en-US" dirty="0"/>
              <a:t>: https://</a:t>
            </a:r>
            <a:r>
              <a:rPr lang="en-US" dirty="0" err="1"/>
              <a:t>vexxhost.com</a:t>
            </a:r>
            <a:r>
              <a:rPr lang="en-US" dirty="0"/>
              <a:t>/blog/</a:t>
            </a:r>
            <a:r>
              <a:rPr lang="en-US" dirty="0" err="1"/>
              <a:t>kubernetes</a:t>
            </a:r>
            <a:r>
              <a:rPr lang="en-US" dirty="0"/>
              <a:t>-vs-docker-swarm-containerization-platforms/#:~:text=In%20Kubernetes%2C%20an%20application%20can,services)%20in%20a%20Swarm%20cluster.&amp;text=Moreover%2C%20Docker%20Compose%20can%20deploy%20the%20app.</a:t>
            </a:r>
            <a:endParaRPr lang="ru-RU" dirty="0"/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3675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AEDCBD-8E59-4347-9DCD-3DE3D1698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FF6E4D-3A0B-F742-B1CF-27A420244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Сервисы </a:t>
            </a:r>
            <a:r>
              <a:rPr lang="en-US" dirty="0"/>
              <a:t>Docker (</a:t>
            </a:r>
            <a:r>
              <a:rPr lang="en-US" dirty="0">
                <a:hlinkClick r:id="rId2"/>
              </a:rPr>
              <a:t>Docker Services</a:t>
            </a:r>
            <a:r>
              <a:rPr lang="en-US" dirty="0"/>
              <a:t>) — </a:t>
            </a:r>
            <a:r>
              <a:rPr lang="ru-RU" dirty="0"/>
              <a:t>это различные части распределённого приложения. Вот что о них говорится в </a:t>
            </a:r>
            <a:r>
              <a:rPr lang="ru-RU" dirty="0">
                <a:hlinkClick r:id="rId2"/>
              </a:rPr>
              <a:t>документации</a:t>
            </a:r>
            <a:r>
              <a:rPr lang="ru-RU" dirty="0"/>
              <a:t>:</a:t>
            </a:r>
            <a:br>
              <a:rPr lang="ru-RU" dirty="0"/>
            </a:br>
            <a:br>
              <a:rPr lang="ru-RU" dirty="0"/>
            </a:br>
            <a:r>
              <a:rPr lang="ru-RU" i="1" dirty="0"/>
              <a:t>Сервисы — это всего лишь «контейнеры в </a:t>
            </a:r>
            <a:r>
              <a:rPr lang="ru-RU" i="1" dirty="0" err="1"/>
              <a:t>продакшне</a:t>
            </a:r>
            <a:r>
              <a:rPr lang="ru-RU" i="1" dirty="0"/>
              <a:t>». В пределах сервиса выполняется лишь один образ, но сервис определяет то, как именно выполняется образ. В частности, речь идёт о том, какие порты должны использоваться, сколько реплик контейнера должно выполняться для того, чтобы сервис обеспечивал бы необходимую вычислительную мощность, и так далее. Масштабирование сервисов предусматривает изменение количества экземпляров контейнера, в которых работает некая программа, благодаря чему сервису выделяется столько системных ресурсов, сколько ему требуется для решения некоей задачи.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Сервисы </a:t>
            </a:r>
            <a:r>
              <a:rPr lang="en-US" dirty="0"/>
              <a:t>Docker </a:t>
            </a:r>
            <a:r>
              <a:rPr lang="ru-RU" dirty="0"/>
              <a:t>позволяют масштабировать контейнеры в пределах нескольких демонов </a:t>
            </a:r>
            <a:r>
              <a:rPr lang="en-US" dirty="0"/>
              <a:t>Docker, </a:t>
            </a:r>
            <a:r>
              <a:rPr lang="ru-RU" dirty="0"/>
              <a:t>благодаря им существует и технология </a:t>
            </a:r>
            <a:r>
              <a:rPr lang="en-US" dirty="0"/>
              <a:t>Docker Swarm.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752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CC93C-9072-C047-9D41-5A3D72D0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Еще раз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64D103-538D-7243-A87C-6BBDF5012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Образы </a:t>
            </a:r>
            <a:r>
              <a:rPr lang="en-US" dirty="0"/>
              <a:t>Docker </a:t>
            </a:r>
            <a:r>
              <a:rPr lang="ru-RU" dirty="0"/>
              <a:t>являются результатом процесса их сборки, а контейнеры </a:t>
            </a:r>
            <a:r>
              <a:rPr lang="en-US" dirty="0"/>
              <a:t>Docker — </a:t>
            </a:r>
            <a:r>
              <a:rPr lang="ru-RU" dirty="0"/>
              <a:t>это выполняющиеся образы. В самом сердце </a:t>
            </a:r>
            <a:r>
              <a:rPr lang="en-US" dirty="0"/>
              <a:t>Docker </a:t>
            </a:r>
            <a:r>
              <a:rPr lang="ru-RU" dirty="0"/>
              <a:t>находятся файлы </a:t>
            </a:r>
            <a:r>
              <a:rPr lang="en-US" dirty="0" err="1"/>
              <a:t>Dockerfile</a:t>
            </a:r>
            <a:r>
              <a:rPr lang="en-US" dirty="0"/>
              <a:t>. </a:t>
            </a:r>
            <a:r>
              <a:rPr lang="ru-RU" dirty="0"/>
              <a:t>Подобные файлы сообщают </a:t>
            </a:r>
            <a:r>
              <a:rPr lang="en-US" dirty="0"/>
              <a:t>Docker </a:t>
            </a:r>
            <a:r>
              <a:rPr lang="ru-RU" dirty="0"/>
              <a:t>о том, как собирать образы, на основе которых создаются контейнеры.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Контейнеры состоят из слоёв. Каждый слой, кроме последнего, находящегося поверх всех остальных, предназначен только для чтения. </a:t>
            </a:r>
            <a:r>
              <a:rPr lang="en-US" dirty="0" err="1"/>
              <a:t>Dockerfile</a:t>
            </a:r>
            <a:r>
              <a:rPr lang="en-US" dirty="0"/>
              <a:t> </a:t>
            </a:r>
            <a:r>
              <a:rPr lang="ru-RU" dirty="0"/>
              <a:t>сообщает системе </a:t>
            </a:r>
            <a:r>
              <a:rPr lang="en-US" dirty="0"/>
              <a:t>Docker </a:t>
            </a:r>
            <a:r>
              <a:rPr lang="ru-RU" dirty="0"/>
              <a:t>о том, какие слои и в каком порядке надо добавить в образ.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Каждый слой это всего лишь файл, который описывает изменение состояния образа в сравнении с тем состоянием, в котором он пребывал после добавления предыдущего слоя. </a:t>
            </a:r>
          </a:p>
          <a:p>
            <a:br>
              <a:rPr lang="ru-RU" dirty="0"/>
            </a:br>
            <a:r>
              <a:rPr lang="ru-RU" dirty="0"/>
              <a:t>Базовый образ — это то, что является исходным слоем (или слоями) создаваемого образа. Базовый образ ещё называют родительским образом.</a:t>
            </a:r>
          </a:p>
        </p:txBody>
      </p:sp>
    </p:spTree>
    <p:extLst>
      <p:ext uri="{BB962C8B-B14F-4D97-AF65-F5344CB8AC3E}">
        <p14:creationId xmlns:p14="http://schemas.microsoft.com/office/powerpoint/2010/main" val="2259423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292C5-A030-FA43-83D1-69DFDA07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Инструкции </a:t>
            </a:r>
            <a:r>
              <a:rPr lang="en-US" dirty="0" err="1"/>
              <a:t>Dockerfile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494160-65E3-C540-8C8C-0DD2842AD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FROM — </a:t>
            </a:r>
            <a:r>
              <a:rPr lang="ru-RU" dirty="0"/>
              <a:t>задаёт базовый (родительский) образ.</a:t>
            </a:r>
          </a:p>
          <a:p>
            <a:r>
              <a:rPr lang="en-US" dirty="0"/>
              <a:t>LABEL — </a:t>
            </a:r>
            <a:r>
              <a:rPr lang="ru-RU" dirty="0"/>
              <a:t>описывает метаданные. Например — сведения о том, кто создал и поддерживает образ.</a:t>
            </a:r>
          </a:p>
          <a:p>
            <a:r>
              <a:rPr lang="en-US" dirty="0"/>
              <a:t>ENV — </a:t>
            </a:r>
            <a:r>
              <a:rPr lang="ru-RU" dirty="0"/>
              <a:t>устанавливает постоянные переменные среды.</a:t>
            </a:r>
          </a:p>
          <a:p>
            <a:r>
              <a:rPr lang="en-US" dirty="0"/>
              <a:t>RUN — </a:t>
            </a:r>
            <a:r>
              <a:rPr lang="ru-RU" dirty="0"/>
              <a:t>выполняет команду и создаёт слой образа. Используется для установки в контейнер пакетов.</a:t>
            </a:r>
          </a:p>
          <a:p>
            <a:r>
              <a:rPr lang="en-US" dirty="0"/>
              <a:t>COPY — </a:t>
            </a:r>
            <a:r>
              <a:rPr lang="ru-RU" dirty="0"/>
              <a:t>копирует в контейнер файлы и папки.</a:t>
            </a:r>
          </a:p>
          <a:p>
            <a:r>
              <a:rPr lang="en-US" dirty="0"/>
              <a:t>ADD — </a:t>
            </a:r>
            <a:r>
              <a:rPr lang="ru-RU" dirty="0"/>
              <a:t>копирует файлы и папки в контейнер, может распаковывать локальные .</a:t>
            </a:r>
            <a:r>
              <a:rPr lang="en-US" dirty="0"/>
              <a:t>tar-</a:t>
            </a:r>
            <a:r>
              <a:rPr lang="ru-RU" dirty="0"/>
              <a:t>файлы.</a:t>
            </a:r>
          </a:p>
          <a:p>
            <a:r>
              <a:rPr lang="en-US" dirty="0"/>
              <a:t>CMD — </a:t>
            </a:r>
            <a:r>
              <a:rPr lang="ru-RU" dirty="0"/>
              <a:t>описывает команду с аргументами, которую нужно выполнить когда контейнер будет запущен. Аргументы могут быть переопределены при запуске контейнера. В файле может присутствовать лишь одна инструкция </a:t>
            </a:r>
            <a:r>
              <a:rPr lang="en-US" dirty="0"/>
              <a:t>CMD.</a:t>
            </a:r>
          </a:p>
          <a:p>
            <a:r>
              <a:rPr lang="en-US" dirty="0"/>
              <a:t>WORKDIR — </a:t>
            </a:r>
            <a:r>
              <a:rPr lang="ru-RU" dirty="0"/>
              <a:t>задаёт рабочую директорию для следующей инструкции.</a:t>
            </a:r>
          </a:p>
          <a:p>
            <a:r>
              <a:rPr lang="en-US" dirty="0"/>
              <a:t>ARG — </a:t>
            </a:r>
            <a:r>
              <a:rPr lang="ru-RU" dirty="0"/>
              <a:t>задаёт переменные для передачи </a:t>
            </a:r>
            <a:r>
              <a:rPr lang="en-US" dirty="0"/>
              <a:t>Docker </a:t>
            </a:r>
            <a:r>
              <a:rPr lang="ru-RU" dirty="0"/>
              <a:t>во время сборки образа.</a:t>
            </a:r>
          </a:p>
          <a:p>
            <a:r>
              <a:rPr lang="en-US" dirty="0"/>
              <a:t>ENTRYPOINT — </a:t>
            </a:r>
            <a:r>
              <a:rPr lang="ru-RU" dirty="0"/>
              <a:t>предоставляет команду с аргументами для вызова во время выполнения контейнера. Аргументы не переопределяются.</a:t>
            </a:r>
          </a:p>
          <a:p>
            <a:r>
              <a:rPr lang="en-US" dirty="0"/>
              <a:t>EXPOSE — </a:t>
            </a:r>
            <a:r>
              <a:rPr lang="ru-RU" dirty="0"/>
              <a:t>указывает на необходимость открыть порт.</a:t>
            </a:r>
          </a:p>
          <a:p>
            <a:r>
              <a:rPr lang="en-US" dirty="0"/>
              <a:t>VOLUME — </a:t>
            </a:r>
            <a:r>
              <a:rPr lang="ru-RU" dirty="0"/>
              <a:t>создаёт точку монтирования для работы с постоянным хранилищем.</a:t>
            </a:r>
          </a:p>
        </p:txBody>
      </p:sp>
    </p:spTree>
    <p:extLst>
      <p:ext uri="{BB962C8B-B14F-4D97-AF65-F5344CB8AC3E}">
        <p14:creationId xmlns:p14="http://schemas.microsoft.com/office/powerpoint/2010/main" val="4011447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5F60A-7DF8-D645-A482-BE5232A3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0EAF3C-7F95-4240-9C26-65E840776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Kubernetes</a:t>
            </a:r>
            <a:r>
              <a:rPr lang="en-US" dirty="0"/>
              <a:t> — </a:t>
            </a:r>
            <a:r>
              <a:rPr lang="ru-RU" dirty="0"/>
              <a:t>это технология, которая позволяет автоматизировать развёртывание и масштабирование </a:t>
            </a:r>
            <a:r>
              <a:rPr lang="ru-RU" dirty="0" err="1"/>
              <a:t>контейнеризированных</a:t>
            </a:r>
            <a:r>
              <a:rPr lang="ru-RU" dirty="0"/>
              <a:t> приложений, а также управление ими. Это — бесспорный лидер рынка средств для </a:t>
            </a:r>
            <a:r>
              <a:rPr lang="ru-RU" dirty="0" err="1"/>
              <a:t>оркестрации</a:t>
            </a:r>
            <a:r>
              <a:rPr lang="ru-RU" dirty="0"/>
              <a:t> контейнеров. Если вам нужен инструмент для работы с группами контейнеров, для масштабирования решений, основанных на них, используйте не </a:t>
            </a:r>
            <a:r>
              <a:rPr lang="en-US" dirty="0"/>
              <a:t>Docker Swarm, </a:t>
            </a:r>
            <a:r>
              <a:rPr lang="ru-RU" dirty="0"/>
              <a:t>а </a:t>
            </a:r>
            <a:r>
              <a:rPr lang="en-US" dirty="0"/>
              <a:t>Kubernetes. Kubernetes </a:t>
            </a:r>
            <a:r>
              <a:rPr lang="ru-RU" dirty="0"/>
              <a:t>не является частью </a:t>
            </a:r>
            <a:r>
              <a:rPr lang="en-US" dirty="0"/>
              <a:t>Docker. </a:t>
            </a:r>
            <a:r>
              <a:rPr lang="ru-RU" dirty="0"/>
              <a:t>Они с </a:t>
            </a:r>
            <a:r>
              <a:rPr lang="en-US" dirty="0"/>
              <a:t>Docker, </a:t>
            </a:r>
            <a:r>
              <a:rPr lang="ru-RU" dirty="0"/>
              <a:t>скорее, похожи на лучших друзей.</a:t>
            </a:r>
          </a:p>
        </p:txBody>
      </p:sp>
    </p:spTree>
    <p:extLst>
      <p:ext uri="{BB962C8B-B14F-4D97-AF65-F5344CB8AC3E}">
        <p14:creationId xmlns:p14="http://schemas.microsoft.com/office/powerpoint/2010/main" val="3373765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0F48B09-FC45-FA40-BE2C-BB5DAD49C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450850"/>
            <a:ext cx="8572500" cy="595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3332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2210</TotalTime>
  <Words>1617</Words>
  <Application>Microsoft Macintosh PowerPoint</Application>
  <PresentationFormat>Широкоэкранный</PresentationFormat>
  <Paragraphs>76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-apple-system</vt:lpstr>
      <vt:lpstr>Arial</vt:lpstr>
      <vt:lpstr>Calibri</vt:lpstr>
      <vt:lpstr>Calibri Light</vt:lpstr>
      <vt:lpstr>Тема Office</vt:lpstr>
      <vt:lpstr>Основы Docker</vt:lpstr>
      <vt:lpstr>Концепции Docker </vt:lpstr>
      <vt:lpstr>Основные понятия</vt:lpstr>
      <vt:lpstr>Образы </vt:lpstr>
      <vt:lpstr>Файл Dockerfile</vt:lpstr>
      <vt:lpstr>Контейнер Docker</vt:lpstr>
      <vt:lpstr>Репозиторий контейнеров</vt:lpstr>
      <vt:lpstr>Механизмы docker  Платформа Docker</vt:lpstr>
      <vt:lpstr>Движок Docker</vt:lpstr>
      <vt:lpstr>Презентация PowerPoint</vt:lpstr>
      <vt:lpstr>Презентация PowerPoint</vt:lpstr>
      <vt:lpstr>Реестр Docker</vt:lpstr>
      <vt:lpstr>Репозиторий Docker</vt:lpstr>
      <vt:lpstr>Сеть Docker</vt:lpstr>
      <vt:lpstr>Docker Compose</vt:lpstr>
      <vt:lpstr>Docker Swarm</vt:lpstr>
      <vt:lpstr>Сервисы Docker</vt:lpstr>
      <vt:lpstr>Еще раз</vt:lpstr>
      <vt:lpstr>Инструкции Dockerfile</vt:lpstr>
      <vt:lpstr>Kubernetes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Docker</dc:title>
  <dc:creator>Kirill Svyatov</dc:creator>
  <cp:lastModifiedBy>Kirill Svyatov</cp:lastModifiedBy>
  <cp:revision>10</cp:revision>
  <dcterms:created xsi:type="dcterms:W3CDTF">2021-02-28T10:54:25Z</dcterms:created>
  <dcterms:modified xsi:type="dcterms:W3CDTF">2021-04-15T18:31:35Z</dcterms:modified>
</cp:coreProperties>
</file>