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8"/>
  </p:normalViewPr>
  <p:slideViewPr>
    <p:cSldViewPr snapToGrid="0" snapToObjects="1">
      <p:cViewPr varScale="1">
        <p:scale>
          <a:sx n="116" d="100"/>
          <a:sy n="116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E356E3-956A-534E-A088-94A7B6E298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6E056E-854A-0748-A27B-3FE5D0F738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6D0449-D3BD-4B49-97F2-59C8C921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276069-AF2A-C047-9758-11E2344C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763840-37EF-B44D-A7F4-533A0763A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06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2866F-1696-7A45-B1A8-E21EDB26F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07C53F-3E4F-8841-BF5B-BE728892D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549B78-2E23-9345-8701-F36554553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C114B6-F920-2840-A64E-0AF66005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3BC55-98AE-0541-BCE0-94A31D7B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7501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712B0C-FCE8-1046-AB40-C34DE34FC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541F0D-9416-1C46-A771-9010BC12A5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38BCDA-52CA-C340-AB80-72D8BCD6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FDAF581-9943-0243-A637-B01CC3063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EFB5BE-ECB1-7941-BA35-76CA44C97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174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D7207-6D80-6441-BE7E-8DE83BB1D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035B1D-1C65-2548-92F5-6558A1853E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E5147A2-92B3-9243-BACD-6895F1752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E00720-17A5-064C-AFAD-77C1B4ED9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BDAB6E-5A25-7E44-BD77-5B3B1C1D9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9122A5F-BA31-0643-BC84-7B21622D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4977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3A7C5B-7750-AF47-980A-6229DC083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CFF46D9-9FA4-9D41-A6DD-9B7518D2B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537C568-8C29-254C-9AB9-596FBBACB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47017FB-4156-1248-97C5-05891FEB3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B189485-C018-424B-8E12-9058E0490A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7513C14-E8F0-2D48-857C-C46BD23A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CD9D67E-F2F7-9042-BC72-97E89C5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8DEBB0-565C-3944-BD77-1A46BEFE2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8388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4D6C99-D79F-1747-95BC-C8B1E4376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C5BB94E-FAE7-5D4C-AF0A-DBFDDCB4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5163C8D-F1D2-464C-A5DC-E66071ED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4FB7660-DDD0-C24B-B46E-8DDFBE7C6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78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144937-C81E-5C47-BC41-C61226A4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8F549C4-BA52-B34C-97DD-EB12B5831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DD6CB5E-ABAF-2E48-91F2-3C7672B2F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364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63213C-0FAB-074E-9132-C6A41CF0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29FFD8-3F06-C14F-B8F6-EF2052D0A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72E822-3569-9E43-BB50-3CE2D376F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8ED16D5-40AA-5C4D-8562-652C2BE9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DEA30F-395E-AD4E-8DD9-E3A2ACA6A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2321BF-560A-2449-8F6B-666AC4F21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409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5BBA3-24EF-6544-9BA8-7785B23B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E37621-1F32-7948-82AC-E6A876983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798FD04-0A63-7241-8866-1DDC52451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806847-26BC-7C44-8804-89BB8E49E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488028-E9BD-5643-AD67-EFFCF77EF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29BC12-EAB9-5647-BD5D-64057572B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6696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3C0A59-E3D6-024A-949B-19101CABF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1D948C-EBF5-DC41-9604-4EC15777DA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196224-23D3-724E-839B-10CD8ABD0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966EB8-7080-AD43-8B5A-2F9CA4A0D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B1EE04-4BA6-9D4A-9EBF-C1E52C4EA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28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6E60F12-CBC0-3E42-BCFD-DB3687591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3074AA3-2A70-374B-A369-C7FC356D7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982BFF-ED2D-0D44-A2D9-E4EEAF7D9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55AA71-7E06-D742-9FF6-03A523E2E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C90A2F-EF4E-7C43-A6B2-A39F6D804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3803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D3BB6B-43F1-7041-A55A-89BE20DB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2348DE-D93E-9842-91E9-F597B25D6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025250-5F90-1346-92A9-790250688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FBBFD4-A2E3-704B-8387-299A0B58EAA9}" type="datetimeFigureOut">
              <a:rPr lang="ru-RU" smtClean="0"/>
              <a:t>25.02.2021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F43B6C-0ABF-1042-A430-305F763B96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5BEE91-C37A-9C48-A313-97F4F1BB5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9A0619-0872-EE4B-A67B-5A5DC45580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613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A34815-0422-BF45-9FAE-B1385E7189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Основы тестирования программ в </a:t>
            </a:r>
            <a:r>
              <a:rPr lang="ru-RU" dirty="0" err="1"/>
              <a:t>python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50F4773-3787-5040-ACBD-4BAD45EC1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443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49588C-5D96-FC49-874E-478DA6FE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F83C41-3F7C-7D4D-B3CA-739FBE6D9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Помощь в отладке</a:t>
            </a:r>
          </a:p>
          <a:p>
            <a:r>
              <a:rPr lang="ru-RU" dirty="0"/>
              <a:t>Уверенность в качестве разрабатываемого ПО</a:t>
            </a:r>
          </a:p>
          <a:p>
            <a:r>
              <a:rPr lang="ru-RU" dirty="0"/>
              <a:t>Сертификация</a:t>
            </a:r>
          </a:p>
          <a:p>
            <a:r>
              <a:rPr lang="ru-RU" dirty="0"/>
              <a:t>Упрощение / ускорение разработки (при необходимости разрабатывать тесты)</a:t>
            </a:r>
          </a:p>
        </p:txBody>
      </p:sp>
    </p:spTree>
    <p:extLst>
      <p:ext uri="{BB962C8B-B14F-4D97-AF65-F5344CB8AC3E}">
        <p14:creationId xmlns:p14="http://schemas.microsoft.com/office/powerpoint/2010/main" val="721045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A25C8A-9FA9-9046-97F2-AB3B5921F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Extreme programming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2BCCC7-2A52-3341-BB85-84B46DBD6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Разработка на основе тестов</a:t>
            </a:r>
          </a:p>
          <a:p>
            <a:r>
              <a:rPr lang="ru-RU" dirty="0"/>
              <a:t>Весь код, который̆ пишется, имеет тестовое покрытие, и вы не пишете ненужный̆ или недостижимый̆ код. </a:t>
            </a:r>
          </a:p>
          <a:p>
            <a:r>
              <a:rPr lang="ru-RU" dirty="0"/>
              <a:t>Написание теста заставляет задуматься о программном интерфейсе приложения (</a:t>
            </a:r>
            <a:r>
              <a:rPr lang="en-US" dirty="0"/>
              <a:t>Application programming interface – API), </a:t>
            </a:r>
            <a:r>
              <a:rPr lang="ru-RU" dirty="0"/>
              <a:t>который̆ будет иметь реализацию, и поэтому вы начнете реализацию с лучшим представлением.</a:t>
            </a:r>
          </a:p>
          <a:p>
            <a:r>
              <a:rPr lang="ru-RU" dirty="0"/>
              <a:t>Чистые (</a:t>
            </a:r>
            <a:r>
              <a:rPr lang="en-US" dirty="0"/>
              <a:t>pure) </a:t>
            </a:r>
            <a:r>
              <a:rPr lang="ru-RU" dirty="0"/>
              <a:t>функции (функции, возвращаемое значение которых зависит только от ввода, они не вызывают побочных эффектов и не считывают данные из баз данных и т. д.) очень просто проверить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Подход, основанный̆ на тестировании, направляет разработчика к лучшему разделению алгоритмов или бизнес-логики от поддержки логики и вспомогательной̆. Такое разделение интересов является аспектом хорошего проектирования программного обеспечения. 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7289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B35CA-38A8-1D49-A6AE-B33764E31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Спецификации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238B32-6955-2B42-A16B-D57B36DEA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Из-за частой смены требований в реальных проектах четкого ТЗ зачастую нет</a:t>
            </a:r>
          </a:p>
          <a:p>
            <a:r>
              <a:rPr lang="ru-RU" dirty="0"/>
              <a:t>Когда нет подробной̆ и актуальной̆ спецификации, тестовый̆ на- бор может взять на себя роль спецификации. Когда люди не уверены, как программа должна вести себя в определенной̆ ситуации, тест может дать ответ. </a:t>
            </a:r>
          </a:p>
          <a:p>
            <a:r>
              <a:rPr lang="ru-RU" dirty="0"/>
              <a:t>Имеет смысл предложить набор тестов, который̆ можно использовать для проверки более чем одной̆ реализации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62530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AFAD64-F93F-9A47-BDB0-19DB6CC19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CF2FE8-870A-7340-8DAE-0EA37E92D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Значительные усилия на написание тестов</a:t>
            </a:r>
          </a:p>
          <a:p>
            <a:r>
              <a:rPr lang="ru-RU" dirty="0"/>
              <a:t>Дополнительный код для поддержки (код – обязательство, а не актив)</a:t>
            </a:r>
          </a:p>
          <a:p>
            <a:r>
              <a:rPr lang="ru-RU" dirty="0"/>
              <a:t>Необходимость модификации при изменении требований или </a:t>
            </a:r>
            <a:r>
              <a:rPr lang="ru-RU" dirty="0" err="1"/>
              <a:t>рефакторинге</a:t>
            </a:r>
            <a:endParaRPr lang="en-US" dirty="0"/>
          </a:p>
          <a:p>
            <a:r>
              <a:rPr lang="ru-RU" dirty="0"/>
              <a:t>Хрупкость, </a:t>
            </a:r>
            <a:r>
              <a:rPr lang="en-US" dirty="0"/>
              <a:t>FP, FN</a:t>
            </a:r>
          </a:p>
          <a:p>
            <a:r>
              <a:rPr lang="ru-RU" dirty="0"/>
              <a:t>Ложное чувство безопасности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660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08FAA-8E92-B34E-8DB7-1A512DFC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Модульные тесты (</a:t>
            </a:r>
            <a:r>
              <a:rPr lang="en-US" dirty="0"/>
              <a:t>Unit test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57AB5F-1361-E548-B396-65D7F136A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Тестируются изолированные методы, классы, модули</a:t>
            </a:r>
          </a:p>
          <a:p>
            <a:r>
              <a:rPr lang="ru-RU" dirty="0" err="1"/>
              <a:t>Модульныи</a:t>
            </a:r>
            <a:r>
              <a:rPr lang="ru-RU" dirty="0"/>
              <a:t>̆ тест должен избегать запуска кода за пределами тестируемого модуля  (СУБД, </a:t>
            </a:r>
            <a:r>
              <a:rPr lang="en-US" dirty="0"/>
              <a:t>API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Поскольку доступ к внешним зависимостям делает большую часть кода медленным, модульные тесты обычно бывают </a:t>
            </a:r>
            <a:r>
              <a:rPr lang="ru-RU" dirty="0" err="1"/>
              <a:t>неверо</a:t>
            </a:r>
            <a:r>
              <a:rPr lang="ru-RU" dirty="0"/>
              <a:t>- </a:t>
            </a:r>
            <a:r>
              <a:rPr lang="ru-RU" dirty="0" err="1"/>
              <a:t>ятно</a:t>
            </a:r>
            <a:r>
              <a:rPr lang="ru-RU" dirty="0"/>
              <a:t> быстрыми. Это делает их подходящими для тестирования ал- </a:t>
            </a:r>
            <a:r>
              <a:rPr lang="ru-RU" dirty="0" err="1"/>
              <a:t>горитмов</a:t>
            </a:r>
            <a:r>
              <a:rPr lang="ru-RU" dirty="0"/>
              <a:t> или </a:t>
            </a:r>
            <a:r>
              <a:rPr lang="ru-RU" dirty="0" err="1"/>
              <a:t>основнои</a:t>
            </a:r>
            <a:r>
              <a:rPr lang="ru-RU" dirty="0"/>
              <a:t>̆ бизнес-логики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59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145DD-0991-D84D-9621-0BDB8EA72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04D14E-28ED-514B-AB0F-3DCE4B5B3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Действия могут иметь нежелательные побочные эффекты, такие как отправка электронных писем клиентам или коллегам, запутывая или даже причиняя им вред. </a:t>
            </a:r>
          </a:p>
          <a:p>
            <a:r>
              <a:rPr lang="ru-RU" dirty="0"/>
              <a:t>Обычно у вас нет контроля над внешними службами. Следовательно, вы не можете контролировать последовательные ответы, что значительно затрудняет написание надежных тестов. </a:t>
            </a:r>
            <a:endParaRPr lang="ru-RU" dirty="0">
              <a:effectLst/>
            </a:endParaRPr>
          </a:p>
          <a:p>
            <a:r>
              <a:rPr lang="ru-RU" dirty="0"/>
              <a:t>Выполнение внешних действий̆ – таких как запись или удаление файлов – оставляет среду в измененном состоянии, что может привести к результатам теста, которые невозможно воспроизвести. </a:t>
            </a:r>
            <a:endParaRPr lang="ru-RU" dirty="0">
              <a:effectLst/>
            </a:endParaRPr>
          </a:p>
          <a:p>
            <a:r>
              <a:rPr lang="ru-RU" dirty="0"/>
              <a:t>Производительность страдает, что негативно влияет на цикл обратной̆ связи с разработчиками. </a:t>
            </a:r>
            <a:endParaRPr lang="ru-RU" dirty="0">
              <a:effectLst/>
            </a:endParaRPr>
          </a:p>
          <a:p>
            <a:r>
              <a:rPr lang="ru-RU" dirty="0"/>
              <a:t>Часто внешним службам – таким как базы данных или </a:t>
            </a:r>
            <a:r>
              <a:rPr lang="en-US" dirty="0"/>
              <a:t>API – </a:t>
            </a:r>
            <a:r>
              <a:rPr lang="ru-RU" dirty="0"/>
              <a:t>требуются учетные данные, которые затрудняют управление и создают серьёзный̆ барьер для настойки среды разработки и запуска тестов. </a:t>
            </a:r>
            <a:endParaRPr lang="ru-RU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381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5BA89-F946-F443-90EB-478824FBC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Интеграционные тесты (</a:t>
            </a:r>
            <a:r>
              <a:rPr lang="en-US" b="1" dirty="0"/>
              <a:t>Integration Tests) 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88BA66-FBB1-BB41-8BAC-5EA337713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Интеграционныи</a:t>
            </a:r>
            <a:r>
              <a:rPr lang="ru-RU" dirty="0"/>
              <a:t>̆ тест проверяет сразу несколько блоков. Это делает несоответствия на границах между блоками очевидными (через сбои теста), позволяя исправлять такие ошибки на ранней̆ стадии.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546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4D86F-0AC1-B140-9CFC-43F0FFA8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Системные тесты  (</a:t>
            </a:r>
            <a:r>
              <a:rPr lang="en-US" dirty="0"/>
              <a:t>System Tests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2BB148-333C-4847-9226-6255C856A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Метод черного ящика</a:t>
            </a:r>
          </a:p>
          <a:p>
            <a:r>
              <a:rPr lang="ru-RU" dirty="0"/>
              <a:t>Системный̆ тест помещает часть программного обеспечения в среду и проверяет ее там. Для классической̆ трехуровневой̆ архитектуры системный̆ тест начинается с ввода через пользовательский̆ интерфейс и тестирует все уровни вплоть до базы данных. 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6467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F4411D-1BAF-FA4A-AC4F-B0C9A69D2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Дымовой тест	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63867D-602F-1944-A830-09E877CEE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минимальный набор тестов на явные ошибки. Дымовой тест обычно выполняется программистом; не проходившую этот тест программу не имеет смысла отдавать на более глубокое тестирование.</a:t>
            </a:r>
          </a:p>
          <a:p>
            <a:r>
              <a:rPr lang="ru-RU" dirty="0"/>
              <a:t>Например</a:t>
            </a:r>
          </a:p>
          <a:p>
            <a:pPr lvl="1"/>
            <a:r>
              <a:rPr lang="ru-RU" dirty="0"/>
              <a:t>Ошибки инсталляции: если программный продукт не устанавливается, его тестирование, скорее всего, окажется невозможным.</a:t>
            </a:r>
          </a:p>
          <a:p>
            <a:pPr lvl="1"/>
            <a:r>
              <a:rPr lang="ru-RU" dirty="0"/>
              <a:t>Ошибки при соединении с базой данных, актуально для архитектуры клиент-сервер.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240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BA97BD-A085-3544-8843-A7BE3C356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Нагрузочное тестирование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6F0477-95AD-8048-ABFE-F0578FE48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Зависит от окружения</a:t>
            </a:r>
          </a:p>
          <a:p>
            <a:r>
              <a:rPr lang="ru-RU" dirty="0"/>
              <a:t>Позволяет удостовериться о регламентном поведении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64954769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3381</TotalTime>
  <Words>593</Words>
  <Application>Microsoft Macintosh PowerPoint</Application>
  <PresentationFormat>Широкоэкранный</PresentationFormat>
  <Paragraphs>47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Основы тестирования программ в python</vt:lpstr>
      <vt:lpstr>Зачем?</vt:lpstr>
      <vt:lpstr>Extreme programming</vt:lpstr>
      <vt:lpstr>Спецификации</vt:lpstr>
      <vt:lpstr>Недостатки</vt:lpstr>
      <vt:lpstr>Модульные тесты (Unit test)</vt:lpstr>
      <vt:lpstr>Презентация PowerPoint</vt:lpstr>
      <vt:lpstr>Интеграционные тесты (Integration Tests) </vt:lpstr>
      <vt:lpstr>Системные тесты  (System Tests)</vt:lpstr>
      <vt:lpstr>Дымовой тест </vt:lpstr>
      <vt:lpstr>Нагрузочное тестирование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Основы тестирования программ в python</dc:title>
  <dc:creator>Kirill Svyatov</dc:creator>
  <cp:lastModifiedBy>Kirill Svyatov</cp:lastModifiedBy>
  <cp:revision>12</cp:revision>
  <dcterms:created xsi:type="dcterms:W3CDTF">2021-02-18T17:17:20Z</dcterms:created>
  <dcterms:modified xsi:type="dcterms:W3CDTF">2021-02-25T17:28:45Z</dcterms:modified>
</cp:coreProperties>
</file>